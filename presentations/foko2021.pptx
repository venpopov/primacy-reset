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A43F-94DA-43E8-B9B2-7ED381CAF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7D6C3-CD96-4D46-952C-E660E4097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22D99-FC5A-46C3-B8C7-20E11C1D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CCF34-D973-4323-9435-012B7810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0AD9F-4760-457D-8B6E-F20F48E6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407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FBCC-4E22-42C1-8848-24DD5BB0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0C098-98B0-4474-AAF5-00D13AD89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23C2-9A37-4FED-AC47-7DEED03E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C6115-B38A-4CFA-9292-87DC31F6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471FF-6DE4-455D-A8C7-4478959E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574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38F0-D744-4113-A7F9-20CFA6BD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BE360-01FF-40F7-B5C3-A745D01F5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CCA2-9AFC-4AF2-A902-23A4808A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8A14B-31BC-4C72-B004-AF33B35C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33F84-EA7A-4A78-83E9-54EFA0AC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246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45A2-941A-49FA-BE13-1A48E484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F7CA3-D119-46F2-960A-D53B6C48A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31978-211C-456A-A05E-D873E3956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2316F-21F9-4AC7-BC23-DD3E07C2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94DC7-CBB9-4BB8-8ECA-4B55956C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208F0-3187-4FB6-9DFF-040F79BC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070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DD4D-64A4-475C-B4BB-A4DE4388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77C29-16EE-47E6-B81A-C9512EF61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BE8-F863-43A0-93E8-372704CA7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054D9-58CC-4E08-975C-EC4396D7E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D40821-B7E7-47BA-832C-B2CCE3908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637D8-3259-4C7A-9B9F-BF6D5F7C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287A4-4794-4D3F-99E4-33C88CEA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4166B-9E81-474C-882B-B755629E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311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1A69-6086-4D8B-B8E2-129589DC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E32F5-4191-44CF-8EB9-1276D6A7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747FB-0F86-440E-925B-91C7B736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0F7D2-762D-4669-BA49-1052D0829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28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0BA02-123A-42EE-BDCE-90F32F69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F870C-5773-4367-A64A-2F3D3B85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98D30-1380-49C0-8341-8BB654E1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132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B402-D4F9-4431-B5B5-8E4C2A39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99313-8F1C-4897-BFBA-C2814A1B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BDC00-A2D5-49FB-9E03-34907A57C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27CD6-58E2-429C-87CF-13FFB78F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A7F23-6562-40F9-B192-4405766D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6F518-89A7-4A50-BCB4-E81EEF69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289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3A0C2-235E-4540-9727-9C8F592D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9997EA-B7FF-4280-AA44-DB2DC6A25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EB085-03D8-4067-8B6C-DEEB552FA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D81AF-8AB5-4CFB-831D-827E51A5B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371DE-00B9-4690-BDE4-108DDF0E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256C9-0FBB-4A0F-BA8D-85C4771E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942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15BC-C996-48ED-AE9D-F8EC51B5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890C1-71B6-43E3-8D85-06B1692BF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471E-AA8E-409C-A739-853EBC97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432B3-4F60-4619-B370-6DEE8854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5D9F0-E537-4E33-AC18-9705F10C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539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4DF45C-0DD6-4CC6-8DC9-7721FBD6C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B0F87-3F4C-484E-A737-24BE6DC68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EB19A-749F-4914-8AFB-6B6FFB80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6E9D-9A87-4DB9-8243-3E985B99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8BBA-9950-4862-82C3-B9ED5734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4214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99163-4C80-477A-A08A-92679500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17E24-DBC0-4C4A-A0DD-5D9BD4E45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7512-D318-48FF-AB24-D518BB0EB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B40BE-7B18-43E4-8D31-EB96C6B9D0E6}" type="datetimeFigureOut">
              <a:rPr lang="LID4096" smtClean="0"/>
              <a:t>12/06/2021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7414A-BC11-41AD-B897-8C5152930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70E2-3B62-4A7F-9DFE-726097C05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3DD41-FA16-4BC8-B06C-20087BCEC8C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721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DE4E-2976-4490-98EF-3D32C2518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 the primacy effect caused by resource depletion?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132FC-EA42-4579-904B-6D7AF2412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Ven Popov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0789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0B7E1-3FBE-4593-9291-A3392D00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depletion and recovery theory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C1B0-0E52-46DB-86B7-801A125B9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Popov &amp; </a:t>
            </a:r>
            <a:r>
              <a:rPr lang="en-US" dirty="0" err="1"/>
              <a:t>Reder</a:t>
            </a:r>
            <a:r>
              <a:rPr lang="en-US" dirty="0"/>
              <a:t> (2020), </a:t>
            </a:r>
            <a:r>
              <a:rPr lang="en-US" i="1" dirty="0"/>
              <a:t>Psych Review</a:t>
            </a:r>
          </a:p>
          <a:p>
            <a:endParaRPr lang="en-US" i="1" dirty="0"/>
          </a:p>
          <a:p>
            <a:pPr lvl="1"/>
            <a:r>
              <a:rPr lang="en-US" dirty="0"/>
              <a:t>Encoding information in memory depletes a limited resource by proportion </a:t>
            </a:r>
            <a:r>
              <a:rPr lang="en-US" i="1" dirty="0"/>
              <a:t>p</a:t>
            </a:r>
            <a:endParaRPr lang="en-US" dirty="0"/>
          </a:p>
          <a:p>
            <a:pPr lvl="1"/>
            <a:r>
              <a:rPr lang="en-US" dirty="0"/>
              <a:t>Resource recovers gradually over time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97271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D305-98BD-4BFE-A9FA-5D9F0B75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depletion and recovery theory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A0A1F-4A90-41AE-A1C3-BF58F1D44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Motivated by:</a:t>
            </a:r>
          </a:p>
          <a:p>
            <a:pPr lvl="1"/>
            <a:r>
              <a:rPr lang="en-US" dirty="0"/>
              <a:t>Word frequency list-composition effects in LTM and WM (Ward et al., 2003; Miller &amp; </a:t>
            </a:r>
            <a:r>
              <a:rPr lang="en-US" dirty="0" err="1"/>
              <a:t>Roodenrys</a:t>
            </a:r>
            <a:r>
              <a:rPr lang="en-US" dirty="0"/>
              <a:t>., 2012)</a:t>
            </a:r>
          </a:p>
          <a:p>
            <a:pPr lvl="1"/>
            <a:r>
              <a:rPr lang="en-US" dirty="0"/>
              <a:t>Interaction between word-frequency and presentation rate (Popov et al., 2021, </a:t>
            </a:r>
            <a:r>
              <a:rPr lang="en-US" i="1" dirty="0"/>
              <a:t>JEP:LMC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Interaction between word-frequency and serial position</a:t>
            </a:r>
          </a:p>
          <a:p>
            <a:pPr lvl="1"/>
            <a:endParaRPr lang="en-US" dirty="0"/>
          </a:p>
          <a:p>
            <a:r>
              <a:rPr lang="en-US" dirty="0"/>
              <a:t>Supported predictions:</a:t>
            </a:r>
          </a:p>
          <a:p>
            <a:pPr lvl="1"/>
            <a:r>
              <a:rPr lang="en-US" dirty="0"/>
              <a:t>Proactive benefits of Word Frequency (Popov &amp; </a:t>
            </a:r>
            <a:r>
              <a:rPr lang="en-US" dirty="0" err="1"/>
              <a:t>Reder</a:t>
            </a:r>
            <a:r>
              <a:rPr lang="en-US" dirty="0"/>
              <a:t>, 2020, </a:t>
            </a:r>
            <a:r>
              <a:rPr lang="en-US" i="1" dirty="0"/>
              <a:t>Psych Review)</a:t>
            </a:r>
          </a:p>
          <a:p>
            <a:pPr lvl="1"/>
            <a:r>
              <a:rPr lang="en-US" dirty="0"/>
              <a:t>Proactive benefits of Forget cues (Popov et al., 2019, </a:t>
            </a:r>
            <a:r>
              <a:rPr lang="en-US" i="1" dirty="0"/>
              <a:t>Psych Science)</a:t>
            </a:r>
          </a:p>
          <a:p>
            <a:pPr lvl="1"/>
            <a:r>
              <a:rPr lang="en-US" dirty="0"/>
              <a:t>Decline of performance over trials in a block (Popov et al., 2021, </a:t>
            </a:r>
            <a:r>
              <a:rPr lang="en-US" i="1" dirty="0"/>
              <a:t>JEP:LMC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Proactive benefits of Free Time (</a:t>
            </a:r>
            <a:r>
              <a:rPr lang="en-US" dirty="0" err="1"/>
              <a:t>Mizrak</a:t>
            </a:r>
            <a:r>
              <a:rPr lang="en-US" dirty="0"/>
              <a:t> &amp; Oberauer, 2021, </a:t>
            </a:r>
            <a:r>
              <a:rPr lang="en-US" i="1" dirty="0"/>
              <a:t>Psych Science)</a:t>
            </a:r>
          </a:p>
          <a:p>
            <a:pPr lvl="1"/>
            <a:r>
              <a:rPr lang="en-US" dirty="0"/>
              <a:t>Interaction between proactive benefits of WF and free time (Popov et al., </a:t>
            </a:r>
            <a:r>
              <a:rPr lang="en-US" i="1" dirty="0"/>
              <a:t>Under revision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Interaction between primacy effects and free time (Oberauer, in prep?)</a:t>
            </a:r>
          </a:p>
          <a:p>
            <a:pPr lvl="1"/>
            <a:endParaRPr lang="en-US" dirty="0"/>
          </a:p>
          <a:p>
            <a:r>
              <a:rPr lang="en-US" dirty="0"/>
              <a:t>Consistent with:</a:t>
            </a:r>
          </a:p>
          <a:p>
            <a:pPr lvl="1"/>
            <a:r>
              <a:rPr lang="en-US" dirty="0"/>
              <a:t>Proactive benefits of semantic similarity (</a:t>
            </a:r>
            <a:r>
              <a:rPr lang="en-US" dirty="0" err="1"/>
              <a:t>Kowialewski</a:t>
            </a:r>
            <a:r>
              <a:rPr lang="en-US" dirty="0"/>
              <a:t> et al., 2020, </a:t>
            </a:r>
            <a:r>
              <a:rPr lang="en-US" i="1" dirty="0"/>
              <a:t>JML)</a:t>
            </a:r>
          </a:p>
          <a:p>
            <a:pPr lvl="1"/>
            <a:r>
              <a:rPr lang="en-US" dirty="0"/>
              <a:t>Better LTM for people with more WM capacity </a:t>
            </a:r>
          </a:p>
          <a:p>
            <a:pPr lvl="1"/>
            <a:r>
              <a:rPr lang="en-US" dirty="0"/>
              <a:t>Primacy effects </a:t>
            </a:r>
          </a:p>
          <a:p>
            <a:pPr lvl="1"/>
            <a:endParaRPr lang="en-US" dirty="0"/>
          </a:p>
          <a:p>
            <a:pPr lvl="1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9190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3EFB-33D6-4F04-B9F4-992C162B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Primacy effects</a:t>
            </a:r>
            <a:endParaRPr lang="LID4096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4D34-6230-4CC7-BCDA-303B1196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/>
              <a:t>Most common explanation – attentional gradient (for a review, see Oberauer, 2003)</a:t>
            </a:r>
          </a:p>
          <a:p>
            <a:pPr lvl="1"/>
            <a:r>
              <a:rPr lang="en-US" sz="2000" b="0" i="0">
                <a:effectLst/>
                <a:latin typeface="AdvPSTim"/>
              </a:rPr>
              <a:t>Less attention is dedicated to each additional item</a:t>
            </a:r>
          </a:p>
          <a:p>
            <a:pPr lvl="1"/>
            <a:r>
              <a:rPr lang="en-US" sz="2000" b="0" i="0">
                <a:effectLst/>
                <a:latin typeface="AdvPSTim"/>
              </a:rPr>
              <a:t>(e.g. Brown, Preece, &amp; Hulme, 2000; Farrell &amp; Lewandowsky, 2002; Lewandowsky &amp; Murdock, 1989; Page &amp; Norris, 1998)</a:t>
            </a:r>
            <a:r>
              <a:rPr lang="en-US" sz="2000"/>
              <a:t> </a:t>
            </a:r>
            <a:br>
              <a:rPr lang="en-US" sz="2000"/>
            </a:br>
            <a:endParaRPr lang="LID4096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B7786-414D-4D2D-995D-03C398AD7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730" y="687469"/>
            <a:ext cx="3283859" cy="39327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CCBDC-4781-4D8E-AC48-0B93FEA1DA52}"/>
              </a:ext>
            </a:extLst>
          </p:cNvPr>
          <p:cNvSpPr txBox="1"/>
          <p:nvPr/>
        </p:nvSpPr>
        <p:spPr>
          <a:xfrm>
            <a:off x="7815784" y="5019188"/>
            <a:ext cx="301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Farrel</a:t>
            </a:r>
            <a:r>
              <a:rPr lang="en-US" dirty="0"/>
              <a:t> &amp; Lewandowsky (2002)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1353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6EE4-1CB7-4533-9FCA-D4FBFDDC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Primacy effects – resource depletion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9781DF-E10A-45B4-9E85-E1F954EBD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073" y="1844849"/>
            <a:ext cx="5547026" cy="39249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025CC-22E5-4E4C-BE6E-693655D95A7C}"/>
              </a:ext>
            </a:extLst>
          </p:cNvPr>
          <p:cNvSpPr txBox="1"/>
          <p:nvPr/>
        </p:nvSpPr>
        <p:spPr>
          <a:xfrm>
            <a:off x="1762055" y="5993658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Popov &amp; </a:t>
            </a:r>
            <a:r>
              <a:rPr lang="en-US" dirty="0" err="1"/>
              <a:t>Reder</a:t>
            </a:r>
            <a:r>
              <a:rPr lang="en-US" dirty="0"/>
              <a:t> (2020)</a:t>
            </a:r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B2D9CB-AB92-44F4-9356-0F204ADCB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783" y="2129150"/>
            <a:ext cx="4325523" cy="3474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6810FD-B062-4495-865B-03248A9C451C}"/>
              </a:ext>
            </a:extLst>
          </p:cNvPr>
          <p:cNvSpPr txBox="1"/>
          <p:nvPr/>
        </p:nvSpPr>
        <p:spPr>
          <a:xfrm>
            <a:off x="7355247" y="5769821"/>
            <a:ext cx="389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Oberauer (from 2021 retreat slides)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7727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E331-C901-46D2-AABA-B6D720CE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recovery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8709-9B80-4ABC-A897-11B9C986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Popov &amp; </a:t>
            </a:r>
            <a:r>
              <a:rPr lang="en-US" dirty="0" err="1"/>
              <a:t>Reder</a:t>
            </a:r>
            <a:r>
              <a:rPr lang="en-US" dirty="0"/>
              <a:t> (2020)</a:t>
            </a:r>
          </a:p>
          <a:p>
            <a:pPr lvl="1"/>
            <a:r>
              <a:rPr lang="en-US" dirty="0"/>
              <a:t>Gradual recovery over time</a:t>
            </a:r>
          </a:p>
          <a:p>
            <a:pPr lvl="1"/>
            <a:r>
              <a:rPr lang="en-US" dirty="0"/>
              <a:t>No immediate recovery/release of resources if encoded information is no longer relevant</a:t>
            </a:r>
          </a:p>
          <a:p>
            <a:pPr lvl="1"/>
            <a:endParaRPr lang="en-US" dirty="0"/>
          </a:p>
          <a:p>
            <a:r>
              <a:rPr lang="en-US" dirty="0"/>
              <a:t>Prediction about primacy effects and list-wise directed forgetting</a:t>
            </a:r>
          </a:p>
        </p:txBody>
      </p:sp>
    </p:spTree>
    <p:extLst>
      <p:ext uri="{BB962C8B-B14F-4D97-AF65-F5344CB8AC3E}">
        <p14:creationId xmlns:p14="http://schemas.microsoft.com/office/powerpoint/2010/main" val="12828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DD420B-D49B-4D40-88EE-2B794B24C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47" y="681036"/>
            <a:ext cx="5536070" cy="52525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A86201-A191-4D8D-96F6-85716D67BCFA}"/>
              </a:ext>
            </a:extLst>
          </p:cNvPr>
          <p:cNvSpPr/>
          <p:nvPr/>
        </p:nvSpPr>
        <p:spPr>
          <a:xfrm>
            <a:off x="3209647" y="3330552"/>
            <a:ext cx="2886353" cy="2709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294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DD420B-D49B-4D40-88EE-2B794B24C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47" y="681036"/>
            <a:ext cx="5536070" cy="525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FD0A-002E-4DC0-9599-9FC1C6BE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 1 – immediate order reconstruction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FF8A-0166-48DF-9938-13D4CD21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Words presented sequentially in two parts with a reset cue between</a:t>
            </a:r>
          </a:p>
          <a:p>
            <a:r>
              <a:rPr lang="en-US" sz="1600" dirty="0"/>
              <a:t>Closed pool of items</a:t>
            </a:r>
          </a:p>
          <a:p>
            <a:r>
              <a:rPr lang="en-US" sz="1600" dirty="0"/>
              <a:t>2x6 within subject design</a:t>
            </a:r>
          </a:p>
          <a:p>
            <a:pPr lvl="1"/>
            <a:r>
              <a:rPr lang="en-US" sz="1400" dirty="0"/>
              <a:t>Number of items in part 1 (1-6)</a:t>
            </a:r>
          </a:p>
          <a:p>
            <a:pPr lvl="1"/>
            <a:r>
              <a:rPr lang="en-US" sz="1400" dirty="0"/>
              <a:t>Test after part 1 or part 2</a:t>
            </a:r>
          </a:p>
          <a:p>
            <a:r>
              <a:rPr lang="en-US" sz="1600" dirty="0"/>
              <a:t>48 trials, 95 participants (exp 1a) or 97 participants (exp 1b)</a:t>
            </a:r>
          </a:p>
          <a:p>
            <a:r>
              <a:rPr lang="en-US" sz="1600" dirty="0"/>
              <a:t>Timing</a:t>
            </a:r>
          </a:p>
          <a:p>
            <a:pPr lvl="1"/>
            <a:r>
              <a:rPr lang="en-US" sz="1400" dirty="0"/>
              <a:t>Item: 750 </a:t>
            </a:r>
            <a:r>
              <a:rPr lang="en-US" sz="1400" dirty="0" err="1"/>
              <a:t>ms</a:t>
            </a:r>
            <a:endParaRPr lang="en-US" sz="1400" dirty="0"/>
          </a:p>
          <a:p>
            <a:pPr lvl="1"/>
            <a:r>
              <a:rPr lang="en-US" sz="1400" dirty="0"/>
              <a:t>ISI: 250 </a:t>
            </a:r>
            <a:r>
              <a:rPr lang="en-US" sz="1400" dirty="0" err="1"/>
              <a:t>ms</a:t>
            </a:r>
            <a:endParaRPr lang="en-US" sz="1400" dirty="0"/>
          </a:p>
          <a:p>
            <a:pPr lvl="1"/>
            <a:r>
              <a:rPr lang="en-US" sz="1400" dirty="0"/>
              <a:t>Reset: 1000 </a:t>
            </a:r>
            <a:r>
              <a:rPr lang="en-US" sz="1400" dirty="0" err="1"/>
              <a:t>ms</a:t>
            </a:r>
            <a:r>
              <a:rPr lang="en-US" sz="1400" dirty="0"/>
              <a:t> (exp 1a) or 250 </a:t>
            </a:r>
            <a:r>
              <a:rPr lang="en-US" sz="1400" dirty="0" err="1"/>
              <a:t>ms</a:t>
            </a:r>
            <a:r>
              <a:rPr lang="en-US" sz="1400" dirty="0"/>
              <a:t> (exp 1b)</a:t>
            </a:r>
          </a:p>
          <a:p>
            <a:pPr lvl="1"/>
            <a:endParaRPr lang="en-US" sz="1400" dirty="0"/>
          </a:p>
          <a:p>
            <a:pPr lvl="1"/>
            <a:endParaRPr lang="LID4096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723C69-D3A7-449E-B31F-BBB8899E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96" y="5041210"/>
            <a:ext cx="8583223" cy="628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7118AB-3587-4263-BADA-DF3F325BE8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679"/>
          <a:stretch/>
        </p:blipFill>
        <p:spPr>
          <a:xfrm>
            <a:off x="1694890" y="5430027"/>
            <a:ext cx="8478433" cy="984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F15B70-DC19-4C7F-B2EE-2476374B4C6F}"/>
              </a:ext>
            </a:extLst>
          </p:cNvPr>
          <p:cNvSpPr txBox="1"/>
          <p:nvPr/>
        </p:nvSpPr>
        <p:spPr>
          <a:xfrm>
            <a:off x="462019" y="5170913"/>
            <a:ext cx="110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Encoding: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0852E-45E3-4905-B66A-1A83378BA5B8}"/>
              </a:ext>
            </a:extLst>
          </p:cNvPr>
          <p:cNvSpPr txBox="1"/>
          <p:nvPr/>
        </p:nvSpPr>
        <p:spPr>
          <a:xfrm>
            <a:off x="648106" y="5807631"/>
            <a:ext cx="618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Test: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0272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4C8F-F125-40F4-A90A-F9FC620B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2E1006-70AD-441C-B507-3BC57A35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885" y="2307568"/>
            <a:ext cx="6424115" cy="35354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8C124E-8D98-4420-97DC-361B9A39AB67}"/>
              </a:ext>
            </a:extLst>
          </p:cNvPr>
          <p:cNvSpPr/>
          <p:nvPr/>
        </p:nvSpPr>
        <p:spPr>
          <a:xfrm>
            <a:off x="2956782" y="2222593"/>
            <a:ext cx="5392958" cy="333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81805-CD47-4ACF-A75B-767728DE345F}"/>
              </a:ext>
            </a:extLst>
          </p:cNvPr>
          <p:cNvSpPr txBox="1"/>
          <p:nvPr/>
        </p:nvSpPr>
        <p:spPr>
          <a:xfrm>
            <a:off x="3929975" y="2037927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99504D-D070-4441-B982-AACD1CE3CC7F}"/>
              </a:ext>
            </a:extLst>
          </p:cNvPr>
          <p:cNvSpPr txBox="1"/>
          <p:nvPr/>
        </p:nvSpPr>
        <p:spPr>
          <a:xfrm>
            <a:off x="6566170" y="2037779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  <a:endParaRPr lang="LID4096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8C4985-E846-4E97-A659-B6AABD41095D}"/>
              </a:ext>
            </a:extLst>
          </p:cNvPr>
          <p:cNvSpPr/>
          <p:nvPr/>
        </p:nvSpPr>
        <p:spPr>
          <a:xfrm>
            <a:off x="5551251" y="2762655"/>
            <a:ext cx="2522706" cy="2581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687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4C8F-F125-40F4-A90A-F9FC620B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2E1006-70AD-441C-B507-3BC57A351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885" y="2307568"/>
            <a:ext cx="6424115" cy="35354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8C124E-8D98-4420-97DC-361B9A39AB67}"/>
              </a:ext>
            </a:extLst>
          </p:cNvPr>
          <p:cNvSpPr/>
          <p:nvPr/>
        </p:nvSpPr>
        <p:spPr>
          <a:xfrm>
            <a:off x="2956782" y="2222593"/>
            <a:ext cx="5392958" cy="333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81805-CD47-4ACF-A75B-767728DE345F}"/>
              </a:ext>
            </a:extLst>
          </p:cNvPr>
          <p:cNvSpPr txBox="1"/>
          <p:nvPr/>
        </p:nvSpPr>
        <p:spPr>
          <a:xfrm>
            <a:off x="3929975" y="2037927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99504D-D070-4441-B982-AACD1CE3CC7F}"/>
              </a:ext>
            </a:extLst>
          </p:cNvPr>
          <p:cNvSpPr txBox="1"/>
          <p:nvPr/>
        </p:nvSpPr>
        <p:spPr>
          <a:xfrm>
            <a:off x="6566170" y="2037779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0970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44FC27-A599-44BA-B398-B35C43487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200" y="1939535"/>
            <a:ext cx="5523726" cy="35280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F9FC62-8E46-4452-9EC5-79F4384A7EA8}"/>
              </a:ext>
            </a:extLst>
          </p:cNvPr>
          <p:cNvSpPr/>
          <p:nvPr/>
        </p:nvSpPr>
        <p:spPr>
          <a:xfrm>
            <a:off x="3016852" y="1825694"/>
            <a:ext cx="5392958" cy="333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EDD365-A5F1-43D3-937D-FF4AE07C8E44}"/>
              </a:ext>
            </a:extLst>
          </p:cNvPr>
          <p:cNvSpPr txBox="1"/>
          <p:nvPr/>
        </p:nvSpPr>
        <p:spPr>
          <a:xfrm>
            <a:off x="3990045" y="1641028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EDC3F-4430-4FD8-A837-D00EA13BB3C0}"/>
              </a:ext>
            </a:extLst>
          </p:cNvPr>
          <p:cNvSpPr txBox="1"/>
          <p:nvPr/>
        </p:nvSpPr>
        <p:spPr>
          <a:xfrm>
            <a:off x="6626240" y="1640880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86CE8-85D8-40F9-895E-D991D8E8C61F}"/>
              </a:ext>
            </a:extLst>
          </p:cNvPr>
          <p:cNvSpPr txBox="1"/>
          <p:nvPr/>
        </p:nvSpPr>
        <p:spPr>
          <a:xfrm>
            <a:off x="1997968" y="6050752"/>
            <a:ext cx="6477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ml1 = </a:t>
            </a:r>
            <a:r>
              <a:rPr lang="LID4096" sz="1200" dirty="0"/>
              <a:t>acc ~ response_position + (setsize+response_position|id) + (1|correct_response)</a:t>
            </a:r>
            <a:endParaRPr lang="en-US" sz="1200" dirty="0"/>
          </a:p>
          <a:p>
            <a:r>
              <a:rPr lang="en-US" sz="1200" dirty="0"/>
              <a:t>ml2 = acc ~ </a:t>
            </a:r>
            <a:r>
              <a:rPr lang="en-US" sz="1200" dirty="0" err="1"/>
              <a:t>response_position</a:t>
            </a:r>
            <a:r>
              <a:rPr lang="en-US" sz="1200" dirty="0"/>
              <a:t> + </a:t>
            </a:r>
            <a:r>
              <a:rPr lang="en-US" sz="1200" dirty="0" err="1"/>
              <a:t>setsize</a:t>
            </a:r>
            <a:r>
              <a:rPr lang="en-US" sz="1200" dirty="0"/>
              <a:t> + (</a:t>
            </a:r>
            <a:r>
              <a:rPr lang="en-US" sz="1200" dirty="0" err="1"/>
              <a:t>setsize+response_position|id</a:t>
            </a:r>
            <a:r>
              <a:rPr lang="en-US" sz="1200" dirty="0"/>
              <a:t>) + (1|correct_response)</a:t>
            </a:r>
            <a:endParaRPr lang="LID4096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1930E-4FDA-44E8-AF09-E3E8B2F94F7B}"/>
              </a:ext>
            </a:extLst>
          </p:cNvPr>
          <p:cNvSpPr txBox="1"/>
          <p:nvPr/>
        </p:nvSpPr>
        <p:spPr>
          <a:xfrm>
            <a:off x="8910536" y="6050752"/>
            <a:ext cx="202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BF</a:t>
            </a:r>
            <a:r>
              <a:rPr lang="en-US" baseline="-25000" dirty="0"/>
              <a:t>ml2</a:t>
            </a:r>
            <a:r>
              <a:rPr lang="en-US" dirty="0"/>
              <a:t> = 411354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86941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3278BB-0CD6-4919-A9DF-7C9434F7D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387" y="2210750"/>
            <a:ext cx="6252335" cy="3582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C26453-A13D-4E07-B80E-4F905CA1ACB4}"/>
              </a:ext>
            </a:extLst>
          </p:cNvPr>
          <p:cNvSpPr/>
          <p:nvPr/>
        </p:nvSpPr>
        <p:spPr>
          <a:xfrm>
            <a:off x="2903387" y="2126044"/>
            <a:ext cx="5392958" cy="333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54ACD-5EA6-481D-A601-8D8A4578FD18}"/>
              </a:ext>
            </a:extLst>
          </p:cNvPr>
          <p:cNvSpPr txBox="1"/>
          <p:nvPr/>
        </p:nvSpPr>
        <p:spPr>
          <a:xfrm>
            <a:off x="3876580" y="1941378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1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834BC-D264-4140-B025-4A9829CB0512}"/>
              </a:ext>
            </a:extLst>
          </p:cNvPr>
          <p:cNvSpPr txBox="1"/>
          <p:nvPr/>
        </p:nvSpPr>
        <p:spPr>
          <a:xfrm>
            <a:off x="6512775" y="1941230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2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27403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25CB-B9B7-4088-B712-D8F55376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 1 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9B31C-7540-4EEB-9A78-42D1F4893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significant but small effect of Part 1 set size</a:t>
            </a:r>
          </a:p>
          <a:p>
            <a:r>
              <a:rPr lang="en-US" dirty="0"/>
              <a:t>~7 times smaller than the primacy effect</a:t>
            </a:r>
          </a:p>
          <a:p>
            <a:r>
              <a:rPr lang="en-US" dirty="0"/>
              <a:t>No interaction with reset cue duration</a:t>
            </a:r>
          </a:p>
          <a:p>
            <a:r>
              <a:rPr lang="en-US" dirty="0"/>
              <a:t>Input and output position are confounded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926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CCF3-5F65-40D2-A395-60B41EEC5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 2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3896-881D-4322-8D3E-1D983ADFE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Oberauer (2003) dissociated input and output position by presenting items in random locations, then cueing locations in random order during recall</a:t>
            </a:r>
          </a:p>
          <a:p>
            <a:endParaRPr lang="en-US" dirty="0"/>
          </a:p>
          <a:p>
            <a:r>
              <a:rPr lang="en-US" dirty="0"/>
              <a:t>Same designs as E1, but:</a:t>
            </a:r>
          </a:p>
          <a:p>
            <a:pPr lvl="1"/>
            <a:r>
              <a:rPr lang="en-US" dirty="0"/>
              <a:t>Letters presented in 10 different boxes</a:t>
            </a:r>
          </a:p>
          <a:p>
            <a:pPr lvl="1"/>
            <a:r>
              <a:rPr lang="en-US" dirty="0"/>
              <a:t>Cue by random box, type letter</a:t>
            </a:r>
          </a:p>
          <a:p>
            <a:pPr lvl="1"/>
            <a:r>
              <a:rPr lang="en-US" dirty="0"/>
              <a:t>Set size reduced to 5</a:t>
            </a:r>
          </a:p>
          <a:p>
            <a:pPr lvl="1"/>
            <a:r>
              <a:rPr lang="en-US" dirty="0"/>
              <a:t>60 trials, N=91 participants</a:t>
            </a:r>
          </a:p>
          <a:p>
            <a:pPr lvl="1"/>
            <a:r>
              <a:rPr lang="en-US" dirty="0"/>
              <a:t>Reset duration = 250 </a:t>
            </a:r>
            <a:r>
              <a:rPr lang="en-US" dirty="0" err="1"/>
              <a:t>ms</a:t>
            </a:r>
            <a:endParaRPr lang="en-US" dirty="0"/>
          </a:p>
          <a:p>
            <a:pPr lvl="1"/>
            <a:endParaRPr lang="en-US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68870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26B044-1B21-4B65-B53A-F77D41274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51" y="890173"/>
            <a:ext cx="5163271" cy="4944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E76B7-A189-40A3-8378-881724D1567B}"/>
              </a:ext>
            </a:extLst>
          </p:cNvPr>
          <p:cNvSpPr txBox="1"/>
          <p:nvPr/>
        </p:nvSpPr>
        <p:spPr>
          <a:xfrm>
            <a:off x="4712164" y="2049057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  <a:endParaRPr lang="LID4096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5F81F-193B-47DF-8F31-1C52921163F3}"/>
              </a:ext>
            </a:extLst>
          </p:cNvPr>
          <p:cNvSpPr txBox="1"/>
          <p:nvPr/>
        </p:nvSpPr>
        <p:spPr>
          <a:xfrm>
            <a:off x="1247011" y="3167390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</a:t>
            </a:r>
            <a:endParaRPr lang="LID4096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E94EF-A23E-45E3-ADAD-3C4765FCDD4A}"/>
              </a:ext>
            </a:extLst>
          </p:cNvPr>
          <p:cNvSpPr txBox="1"/>
          <p:nvPr/>
        </p:nvSpPr>
        <p:spPr>
          <a:xfrm>
            <a:off x="3723233" y="5011401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</a:t>
            </a:r>
            <a:endParaRPr lang="LID4096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812E-4856-4733-90C4-C235BB41C8E3}"/>
              </a:ext>
            </a:extLst>
          </p:cNvPr>
          <p:cNvSpPr txBox="1"/>
          <p:nvPr/>
        </p:nvSpPr>
        <p:spPr>
          <a:xfrm>
            <a:off x="2548529" y="134045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</a:t>
            </a:r>
            <a:endParaRPr lang="LID4096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9B1CD5-CD82-4046-8B58-19FD81B8F0D1}"/>
              </a:ext>
            </a:extLst>
          </p:cNvPr>
          <p:cNvSpPr txBox="1"/>
          <p:nvPr/>
        </p:nvSpPr>
        <p:spPr>
          <a:xfrm>
            <a:off x="1627243" y="4317259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</a:t>
            </a:r>
            <a:endParaRPr lang="LID4096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9501F9-64C9-41FD-8BF3-6F3249F7D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868" y="890172"/>
            <a:ext cx="5163271" cy="49441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5AC043-D3BA-4066-8BCD-7B6AAD5333AD}"/>
              </a:ext>
            </a:extLst>
          </p:cNvPr>
          <p:cNvSpPr txBox="1"/>
          <p:nvPr/>
        </p:nvSpPr>
        <p:spPr>
          <a:xfrm>
            <a:off x="8068301" y="1340453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?</a:t>
            </a:r>
            <a:endParaRPr lang="LID4096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60C660-F9CD-4A78-BDCF-16698A595629}"/>
              </a:ext>
            </a:extLst>
          </p:cNvPr>
          <p:cNvSpPr txBox="1"/>
          <p:nvPr/>
        </p:nvSpPr>
        <p:spPr>
          <a:xfrm>
            <a:off x="4794686" y="16020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90615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606299-B58E-41A9-941F-5F9CAE58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08" y="1241448"/>
            <a:ext cx="4601479" cy="460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22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606299-B58E-41A9-941F-5F9CAE58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08" y="1241448"/>
            <a:ext cx="4601479" cy="4601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81DB13-3D7F-4F1B-BA38-DC032692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335" y="2259559"/>
            <a:ext cx="5401718" cy="333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70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C3EF31-46C7-4BFA-A548-9CB53DAEE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75" y="377363"/>
            <a:ext cx="4385102" cy="27062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1F5766-502D-496A-9A70-8C8852B054A1}"/>
              </a:ext>
            </a:extLst>
          </p:cNvPr>
          <p:cNvSpPr/>
          <p:nvPr/>
        </p:nvSpPr>
        <p:spPr>
          <a:xfrm>
            <a:off x="3560878" y="3512444"/>
            <a:ext cx="4578402" cy="283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4737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C3EF31-46C7-4BFA-A548-9CB53DAEE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75" y="377363"/>
            <a:ext cx="4385102" cy="2706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718F51-D7AB-4D4A-A592-E20A2FB59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575" y="3618886"/>
            <a:ext cx="4689419" cy="29951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1F5766-502D-496A-9A70-8C8852B054A1}"/>
              </a:ext>
            </a:extLst>
          </p:cNvPr>
          <p:cNvSpPr/>
          <p:nvPr/>
        </p:nvSpPr>
        <p:spPr>
          <a:xfrm>
            <a:off x="3560878" y="3512444"/>
            <a:ext cx="4578402" cy="283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0F7F25-BD52-44FB-B73D-6D204C47C40F}"/>
              </a:ext>
            </a:extLst>
          </p:cNvPr>
          <p:cNvSpPr txBox="1"/>
          <p:nvPr/>
        </p:nvSpPr>
        <p:spPr>
          <a:xfrm>
            <a:off x="901051" y="1528450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 2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A4B79-4E2D-48B9-BAE6-B3DDEB8AA256}"/>
              </a:ext>
            </a:extLst>
          </p:cNvPr>
          <p:cNvSpPr txBox="1"/>
          <p:nvPr/>
        </p:nvSpPr>
        <p:spPr>
          <a:xfrm>
            <a:off x="1027866" y="5112631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 1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15386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3CFD-A0BB-49C7-8F4F-F5C073B8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9DFA-C7C5-4D0A-9D96-96F6B6588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Small and difficult to detect effect of preceding set size</a:t>
            </a:r>
          </a:p>
          <a:p>
            <a:r>
              <a:rPr lang="en-US" dirty="0"/>
              <a:t>If it exists, it is several times smaller than the primacy effect</a:t>
            </a:r>
          </a:p>
          <a:p>
            <a:endParaRPr lang="en-US" dirty="0"/>
          </a:p>
          <a:p>
            <a:r>
              <a:rPr lang="en-US" dirty="0"/>
              <a:t>Conclusions</a:t>
            </a:r>
          </a:p>
          <a:p>
            <a:pPr lvl="1"/>
            <a:r>
              <a:rPr lang="en-US" dirty="0"/>
              <a:t>Either primacy is NOT caused by the depletion of a resource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OR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The resource can be released immediately when a reset/forget cue is presented</a:t>
            </a:r>
          </a:p>
          <a:p>
            <a:pPr lvl="2"/>
            <a:r>
              <a:rPr lang="en-US" dirty="0"/>
              <a:t>Consistent with assumptions in Klaus’s new version of the binding pool model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34923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661</Words>
  <Application>Microsoft Office PowerPoint</Application>
  <PresentationFormat>Widescreen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AdvPSTim</vt:lpstr>
      <vt:lpstr>Arial</vt:lpstr>
      <vt:lpstr>Calibri</vt:lpstr>
      <vt:lpstr>Calibri Light</vt:lpstr>
      <vt:lpstr>Office Theme</vt:lpstr>
      <vt:lpstr>Is the primacy effect caused by resource depletion?</vt:lpstr>
      <vt:lpstr>Resource depletion and recovery theory</vt:lpstr>
      <vt:lpstr>Resource depletion and recovery theory</vt:lpstr>
      <vt:lpstr>Primacy effects</vt:lpstr>
      <vt:lpstr>Primacy effects – resource depletion</vt:lpstr>
      <vt:lpstr>Resource recovery</vt:lpstr>
      <vt:lpstr>PowerPoint Presentation</vt:lpstr>
      <vt:lpstr>PowerPoint Presentation</vt:lpstr>
      <vt:lpstr>Exp 1 – immediate order reconstruction</vt:lpstr>
      <vt:lpstr>Results</vt:lpstr>
      <vt:lpstr>Results</vt:lpstr>
      <vt:lpstr>PowerPoint Presentation</vt:lpstr>
      <vt:lpstr>PowerPoint Presentation</vt:lpstr>
      <vt:lpstr>Exp 1 summary</vt:lpstr>
      <vt:lpstr>Exp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the primacy effect caused by resource depletion?</dc:title>
  <dc:creator>Ven Popov</dc:creator>
  <cp:lastModifiedBy>Ven Popov</cp:lastModifiedBy>
  <cp:revision>5</cp:revision>
  <dcterms:created xsi:type="dcterms:W3CDTF">2021-12-06T06:31:46Z</dcterms:created>
  <dcterms:modified xsi:type="dcterms:W3CDTF">2021-12-06T10:40:39Z</dcterms:modified>
</cp:coreProperties>
</file>